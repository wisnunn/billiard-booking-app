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2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6.pn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8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" y="9832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95562" y="1725066"/>
            <a:ext cx="7000875" cy="167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sz="6000" b="0" i="0" u="none">
                <a:solidFill>
                  <a:srgbClr val="F9FAFB"/>
                </a:solidFill>
                <a:latin typeface="Plus Jakarta Sans ExtraBold"/>
              </a:rPr>
              <a:t>Sistem Reservasi &amp; </a:t>
            </a:r>
            <a:r>
              <a:t>
</a:t>
            </a:r>
            <a:r>
              <a:rPr sz="6000" b="0" i="0" u="none">
                <a:solidFill>
                  <a:srgbClr val="F9FAFB"/>
                </a:solidFill>
                <a:latin typeface="Plus Jakarta Sans ExtraBold"/>
              </a:rPr>
              <a:t> Manajemen Biliar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630066"/>
            <a:ext cx="66675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CA3AF"/>
                </a:solidFill>
                <a:latin typeface="Inter"/>
              </a:rPr>
              <a:t>Implementasi Antarmuka Front-End Modern &amp; Integrasi Payment Gateway.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2087" y="4932908"/>
            <a:ext cx="16478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F9FAFB"/>
                </a:solidFill>
                <a:latin typeface="Plus Jakarta Sans SemiBold"/>
              </a:rPr>
              <a:t>Wisnu Nugraha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5775" y="5412878"/>
            <a:ext cx="36004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6B7280"/>
                </a:solidFill>
                <a:latin typeface="Inter"/>
              </a:rPr>
              <a:t>Full-Stack Web Development Bootcamp - Batch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1780" y="581025"/>
            <a:ext cx="1078212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9FAFB"/>
                </a:solidFill>
                <a:latin typeface="Plus Jakarta Sans"/>
              </a:rPr>
              <a:t>Profil Pengembang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661987"/>
            <a:ext cx="22785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2218580"/>
            <a:ext cx="5390673" cy="822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0" i="0" u="none">
                <a:solidFill>
                  <a:srgbClr val="F9FAFB"/>
                </a:solidFill>
                <a:latin typeface="Plus Jakarta Sans SemiBold"/>
              </a:rPr>
              <a:t>My Journey as a </a:t>
            </a:r>
            <a:r>
              <a:t>
</a:t>
            </a:r>
            <a:r>
              <a:rPr sz="2700" b="0" i="0" u="none">
                <a:solidFill>
                  <a:srgbClr val="F9FAFB"/>
                </a:solidFill>
                <a:latin typeface="Plus Jakarta Sans SemiBold"/>
              </a:rPr>
              <a:t>Full Stack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269902"/>
            <a:ext cx="51339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Inter"/>
              </a:rPr>
              <a:t>Halo! Saya </a:t>
            </a:r>
            <a:r>
              <a:rPr sz="1500" b="0" i="0" u="none">
                <a:solidFill>
                  <a:srgbClr val="F9FAFB"/>
                </a:solidFill>
                <a:latin typeface="Inter SemiBold"/>
              </a:rPr>
              <a:t>Wisnu Nugraha</a:t>
            </a:r>
            <a:r>
              <a:rPr sz="1500" b="0" i="0" u="none">
                <a:solidFill>
                  <a:srgbClr val="9CA3AF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803302"/>
            <a:ext cx="5133975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CA3AF"/>
                </a:solidFill>
                <a:latin typeface="Inter"/>
              </a:rPr>
              <a:t>Passion saya adalah mengubah logika bisnis yang kompleks menjadi antarmuka digital yang sederhana, cepat, dan mudah digunakan. Melalui proyek ini, saya mengintegrasikan arsitektur back-end yang kokoh dengan front-end yang responsif untuk memecahkan kendala operasional di dunia nyata.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246" y="2392123"/>
            <a:ext cx="913507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48819" y="2906166"/>
            <a:ext cx="4894361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0" i="0" u="none">
                <a:solidFill>
                  <a:srgbClr val="F9FAFB"/>
                </a:solidFill>
                <a:latin typeface="Plus Jakarta Sans ExtraBold"/>
              </a:rPr>
              <a:t>Perspektif Bisnis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8500" y="3805237"/>
            <a:ext cx="5715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9CA3AF"/>
                </a:solidFill>
                <a:latin typeface="Inter"/>
              </a:rPr>
              <a:t>Menganalisis kendala pasar dan merancang model solusi digital yang tepat guna.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390650"/>
            <a:ext cx="3346400" cy="4886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725" y="1390650"/>
            <a:ext cx="3346400" cy="4886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3925" y="1390650"/>
            <a:ext cx="3346549" cy="4886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0355" y="581025"/>
            <a:ext cx="10752125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9FAFB"/>
                </a:solidFill>
                <a:latin typeface="Plus Jakarta Sans"/>
              </a:rPr>
              <a:t>Problem Statement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661987"/>
            <a:ext cx="25643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" y="171450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50" y="2400300"/>
            <a:ext cx="285363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9FAFB"/>
                </a:solidFill>
                <a:latin typeface="Plus Jakarta Sans SemiBold"/>
              </a:rPr>
              <a:t>Pencatatan Konvensional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2781300"/>
            <a:ext cx="2717750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CA3AF"/>
                </a:solidFill>
                <a:latin typeface="Inter"/>
              </a:rPr>
              <a:t>Penggunaan buku fisik atau Excel memicu risiko tinggi terjadinya </a:t>
            </a:r>
            <a:r>
              <a:rPr sz="1350" b="0" i="0" u="none">
                <a:solidFill>
                  <a:srgbClr val="F9FAFB"/>
                </a:solidFill>
                <a:latin typeface="Inter SemiBold"/>
              </a:rPr>
              <a:t>bentrok jadwal (double-booking)</a:t>
            </a:r>
            <a:r>
              <a:rPr sz="1350" b="0" i="0" u="none">
                <a:solidFill>
                  <a:srgbClr val="9CA3AF"/>
                </a:solidFill>
                <a:latin typeface="Inter"/>
              </a:rPr>
              <a:t> antar pelanggan saat jam sibuk.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7050" y="1714500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37050" y="2400300"/>
            <a:ext cx="285363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9FAFB"/>
                </a:solidFill>
                <a:latin typeface="Plus Jakarta Sans SemiBold"/>
              </a:rPr>
              <a:t>Tidak Real-Time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7050" y="2781300"/>
            <a:ext cx="2717750" cy="1385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Pelanggan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kesulitan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mendapatkan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informasi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ketersediaan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meja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secara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instan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.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Mengharuskan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proses manual via chat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atau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telepon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yang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tidak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efisien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8250" y="171450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88250" y="2400300"/>
            <a:ext cx="285379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9FAFB"/>
                </a:solidFill>
                <a:latin typeface="Plus Jakarta Sans SemiBold"/>
              </a:rPr>
              <a:t>Verifikasi Pembayaran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8250" y="2781300"/>
            <a:ext cx="2717899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CA3AF"/>
                </a:solidFill>
                <a:latin typeface="Inter"/>
              </a:rPr>
              <a:t>Pengecekan mutasi transfer bank secara manual sangat menyita waktu operasional admin dan rentan terhadap manipulasi bukti bayar.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4912" y="1847850"/>
            <a:ext cx="219075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0400" y="1847850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5413" y="1847850"/>
            <a:ext cx="1428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390650"/>
            <a:ext cx="5133975" cy="4886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90650"/>
            <a:ext cx="5133975" cy="4886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0355" y="581025"/>
            <a:ext cx="10752125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9FAFB"/>
                </a:solidFill>
                <a:latin typeface="Plus Jakarta Sans"/>
              </a:rPr>
              <a:t>Target Pengguna &amp; Unique Value Proposition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661987"/>
            <a:ext cx="25643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5850" y="1704975"/>
            <a:ext cx="473059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9FAFB"/>
                </a:solidFill>
                <a:latin typeface="Plus Jakarta Sans SemiBold"/>
              </a:rPr>
              <a:t>Segmentasi Pengguna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1704975"/>
            <a:ext cx="473059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0B981"/>
                </a:solidFill>
                <a:latin typeface="Plus Jakarta Sans SemiBold"/>
              </a:rPr>
              <a:t>Solusi Inti (UVP)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2550" y="2200275"/>
            <a:ext cx="42386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9FAFB"/>
                </a:solidFill>
                <a:latin typeface="Inter SemiBold"/>
              </a:rPr>
              <a:t>Pelanggan (End-User):</a:t>
            </a:r>
            <a:r>
              <a:rPr sz="1350" b="0" i="0" u="none">
                <a:solidFill>
                  <a:srgbClr val="9CA3AF"/>
                </a:solidFill>
                <a:latin typeface="Inter"/>
              </a:rPr>
              <a:t> Komunitas biliar dan pengunjung reguler yang butuh kepastian ketersediaan meja instan tanpa repot.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2550" y="3213645"/>
            <a:ext cx="42386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9FAFB"/>
                </a:solidFill>
                <a:latin typeface="Inter SemiBold"/>
              </a:rPr>
              <a:t>Admin / Pengelola:</a:t>
            </a:r>
            <a:r>
              <a:rPr sz="1350" b="0" i="0" u="none">
                <a:solidFill>
                  <a:srgbClr val="9CA3AF"/>
                </a:solidFill>
                <a:latin typeface="Inter"/>
              </a:rPr>
              <a:t> Staff yang kewalahan dengan tugas administratif manual harian dan butuh otomatisasi operasional.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7525" y="2200275"/>
            <a:ext cx="4238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9FAFB"/>
                </a:solidFill>
                <a:latin typeface="Inter SemiBold"/>
              </a:rPr>
              <a:t>Ketersediaan Real-Time:</a:t>
            </a:r>
            <a:r>
              <a:rPr sz="1350" b="0" i="0" u="none">
                <a:solidFill>
                  <a:srgbClr val="9CA3AF"/>
                </a:solidFill>
                <a:latin typeface="Inter"/>
              </a:rPr>
              <a:t> Cek meja kosong seketika via antarmuka interaktif.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7525" y="2939355"/>
            <a:ext cx="4238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9FAFB"/>
                </a:solidFill>
                <a:latin typeface="Inter SemiBold"/>
              </a:rPr>
              <a:t>Checkout Instan:</a:t>
            </a:r>
            <a:r>
              <a:rPr sz="1350" b="0" i="0" u="none">
                <a:solidFill>
                  <a:srgbClr val="9CA3AF"/>
                </a:solidFill>
                <a:latin typeface="Inter"/>
              </a:rPr>
              <a:t> Konfirmasi bayar otomatis terintegrasi Payment Gateway (Midtrans/Xendit).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7525" y="3678435"/>
            <a:ext cx="4238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9FAFB"/>
                </a:solidFill>
                <a:latin typeface="Inter SemiBold"/>
              </a:rPr>
              <a:t>E-Ticket Self-Service:</a:t>
            </a:r>
            <a:r>
              <a:rPr sz="1350" b="0" i="0" u="none">
                <a:solidFill>
                  <a:srgbClr val="9CA3AF"/>
                </a:solidFill>
                <a:latin typeface="Inter"/>
              </a:rPr>
              <a:t> Mereduksi total antrean pelanggan di lokasi.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850" y="2238375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" y="3251745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0825" y="2238375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0825" y="2977455"/>
            <a:ext cx="1714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0825" y="3716535"/>
            <a:ext cx="17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390650"/>
            <a:ext cx="5133975" cy="4886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135635"/>
            <a:ext cx="5133975" cy="1009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0355" y="581025"/>
            <a:ext cx="10752125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9FAFB"/>
                </a:solidFill>
                <a:latin typeface="Plus Jakarta Sans"/>
              </a:rPr>
              <a:t>Model Bisnis &amp; Dampak Skalabilitas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661987"/>
            <a:ext cx="25643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5" y="2522190"/>
            <a:ext cx="539067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9FAFB"/>
                </a:solidFill>
                <a:latin typeface="Plus Jakarta Sans SemiBold"/>
              </a:rPr>
              <a:t>Model B2C &amp; Potensi 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007965"/>
            <a:ext cx="51339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Arsitektur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dirancang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fleksibel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untuk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mendukung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biaya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per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transaksi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(Transaction Fee)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atau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disewakan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ke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berbagai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venue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sebagai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Platform-as-a-Service.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1704975"/>
            <a:ext cx="473059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9FAFB"/>
                </a:solidFill>
                <a:latin typeface="Plus Jakarta Sans SemiBold"/>
              </a:rPr>
              <a:t>Skalabilitas Jangka Panjang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4373760"/>
            <a:ext cx="10191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4200" b="0" i="0" u="none">
                <a:solidFill>
                  <a:srgbClr val="3B82F6"/>
                </a:solidFill>
                <a:latin typeface="Plus Jakarta Sans ExtraBold"/>
              </a:rPr>
              <a:t>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7525" y="2200275"/>
            <a:ext cx="4238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9FAFB"/>
                </a:solidFill>
                <a:latin typeface="Inter SemiBold"/>
              </a:rPr>
              <a:t>Data Terpusat:</a:t>
            </a:r>
            <a:r>
              <a:rPr sz="1350" b="0" i="0" u="none">
                <a:solidFill>
                  <a:srgbClr val="9CA3AF"/>
                </a:solidFill>
                <a:latin typeface="Inter"/>
              </a:rPr>
              <a:t> Mencegah hilangnya riwayat transaksi, mempermudah audit keuangan venue.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7525" y="2939355"/>
            <a:ext cx="4238625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F9FAFB"/>
                </a:solidFill>
                <a:latin typeface="Inter SemiBold"/>
              </a:rPr>
              <a:t>Analisis</a:t>
            </a:r>
            <a:r>
              <a:rPr sz="1350" b="0" i="0" u="none" dirty="0">
                <a:solidFill>
                  <a:srgbClr val="F9FAFB"/>
                </a:solidFill>
                <a:latin typeface="Inter SemiBold"/>
              </a:rPr>
              <a:t> </a:t>
            </a:r>
            <a:r>
              <a:rPr sz="1350" b="0" i="0" u="none" dirty="0" err="1">
                <a:solidFill>
                  <a:srgbClr val="F9FAFB"/>
                </a:solidFill>
                <a:latin typeface="Inter SemiBold"/>
              </a:rPr>
              <a:t>Trafik</a:t>
            </a:r>
            <a:r>
              <a:rPr sz="1350" b="0" i="0" u="none" dirty="0">
                <a:solidFill>
                  <a:srgbClr val="F9FAFB"/>
                </a:solidFill>
                <a:latin typeface="Inter SemiBold"/>
              </a:rPr>
              <a:t>: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Pengelola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dapat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menganalisis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data jam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sibuk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(peak hours)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untuk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strategi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promosi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harga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dinamis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7525" y="3952726"/>
            <a:ext cx="42386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9FAFB"/>
                </a:solidFill>
                <a:latin typeface="Inter SemiBold"/>
              </a:rPr>
              <a:t>Ekspansi Fitur:</a:t>
            </a:r>
            <a:r>
              <a:rPr sz="1350" b="0" i="0" u="none">
                <a:solidFill>
                  <a:srgbClr val="9CA3AF"/>
                </a:solidFill>
                <a:latin typeface="Inter"/>
              </a:rPr>
              <a:t> Infrastruktur modular siap untuk penambahan fitur pesanan Makanan &amp; Minuman (F&amp;B) langsung dari aplikasi.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7425" y="4377630"/>
            <a:ext cx="28289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9FAFB"/>
                </a:solidFill>
                <a:latin typeface="Inter SemiBold"/>
              </a:rPr>
              <a:t>Penurunan Waktu Verifikasi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7425" y="4690020"/>
            <a:ext cx="2828925" cy="1990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 dirty="0" err="1">
                <a:solidFill>
                  <a:srgbClr val="9CA3AF"/>
                </a:solidFill>
                <a:latin typeface="Inter"/>
              </a:rPr>
              <a:t>Melalui</a:t>
            </a:r>
            <a:r>
              <a:rPr sz="10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Inter"/>
              </a:rPr>
              <a:t>otomatisasi</a:t>
            </a:r>
            <a:r>
              <a:rPr sz="1050" b="0" i="0" u="none" dirty="0">
                <a:solidFill>
                  <a:srgbClr val="9CA3AF"/>
                </a:solidFill>
                <a:latin typeface="Inter"/>
              </a:rPr>
              <a:t> Webhook </a:t>
            </a:r>
            <a:r>
              <a:rPr sz="1050" b="0" i="0" u="none" dirty="0" err="1">
                <a:solidFill>
                  <a:srgbClr val="9CA3AF"/>
                </a:solidFill>
                <a:latin typeface="Inter"/>
              </a:rPr>
              <a:t>pembayaran</a:t>
            </a:r>
            <a:r>
              <a:rPr sz="1050" b="0" i="0" u="none" dirty="0">
                <a:solidFill>
                  <a:srgbClr val="9CA3AF"/>
                </a:solidFill>
                <a:latin typeface="Inter"/>
              </a:rPr>
              <a:t>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238375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2977455"/>
            <a:ext cx="1714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0825" y="3990826"/>
            <a:ext cx="17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958" y="2382291"/>
            <a:ext cx="942082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59111" y="2906166"/>
            <a:ext cx="5273627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0" i="0" u="none">
                <a:solidFill>
                  <a:srgbClr val="F9FAFB"/>
                </a:solidFill>
                <a:latin typeface="Plus Jakarta Sans ExtraBold"/>
              </a:rPr>
              <a:t>Kedalaman Teknis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8500" y="3805237"/>
            <a:ext cx="5715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9CA3AF"/>
                </a:solidFill>
                <a:latin typeface="Inter"/>
              </a:rPr>
              <a:t>Membedah struktur teknologi, desain basis data, dan penanganan kompleksitas logika di balik layar.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390650"/>
            <a:ext cx="3346400" cy="4886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725" y="1390650"/>
            <a:ext cx="3346400" cy="4886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925" y="1390650"/>
            <a:ext cx="3346549" cy="4886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8455" y="581025"/>
            <a:ext cx="1071212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9FAFB"/>
                </a:solidFill>
                <a:latin typeface="Plus Jakarta Sans"/>
              </a:rPr>
              <a:t>Tinjauan Teknologi (Tech Stack)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61987"/>
            <a:ext cx="29453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9850" y="1704975"/>
            <a:ext cx="609600" cy="60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40462" y="2543175"/>
            <a:ext cx="200837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9FAFB"/>
                </a:solidFill>
                <a:latin typeface="Plus Jakarta Sans SemiBold"/>
              </a:rPr>
              <a:t>React.js (Front-End)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2924175"/>
            <a:ext cx="2717750" cy="1198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Komponen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reusable dan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kapabilitas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Virtual DOM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memastikan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pembaruan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status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antarmuka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berjalan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sangat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cepat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secara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real-time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tanpa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perlu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memuat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ulang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halaman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(page reload).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051" y="1704975"/>
            <a:ext cx="609600" cy="60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45107" y="2543175"/>
            <a:ext cx="190148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9FAFB"/>
                </a:solidFill>
                <a:latin typeface="Plus Jakarta Sans SemiBold"/>
              </a:rPr>
              <a:t>Laravel (Back-End)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7050" y="2924175"/>
            <a:ext cx="2717750" cy="1198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Menyediakan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ekosistem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kokoh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(built-in routing, ORM, middleware) yang sangat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mempercepat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pengembangan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RESTful API yang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aman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,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stabil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, dan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terstandarisasi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Inter"/>
              </a:rPr>
              <a:t>industri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2400" y="1704975"/>
            <a:ext cx="609600" cy="609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99741" y="2543175"/>
            <a:ext cx="189476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9FAFB"/>
                </a:solidFill>
                <a:latin typeface="Plus Jakarta Sans SemiBold"/>
              </a:rPr>
              <a:t>MySQL (Database)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8250" y="2924175"/>
            <a:ext cx="2717899" cy="1218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CA3AF"/>
                </a:solidFill>
                <a:latin typeface="Inter"/>
              </a:rPr>
              <a:t>Sistem reservasi membutuhkan konsistensi data absolut (ACID compliance). Relasi antar entitas yang terstruktur di SQL sangat krusial untuk mencegah duplikasi pesanan.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2250" y="1857375"/>
            <a:ext cx="3048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451" y="1857375"/>
            <a:ext cx="3048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850" y="1857375"/>
            <a:ext cx="2667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8455" y="581025"/>
            <a:ext cx="1071212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9FAFB"/>
                </a:solidFill>
                <a:latin typeface="Plus Jakarta Sans"/>
              </a:rPr>
              <a:t>Arsitektur Sistem (Alur Aplikasi)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661987"/>
            <a:ext cx="29453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2650331"/>
            <a:ext cx="447243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9FAFB"/>
                </a:solidFill>
                <a:latin typeface="Plus Jakarta Sans SemiBold"/>
              </a:rPr>
              <a:t>Logika Pemrosesan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483" y="630659"/>
            <a:ext cx="5912941" cy="58528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8225" y="3145631"/>
            <a:ext cx="399276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9FAFB"/>
                </a:solidFill>
                <a:latin typeface="Inter SemiBold"/>
              </a:rPr>
              <a:t>Pemisahan Akses (Role):</a:t>
            </a:r>
            <a:r>
              <a:rPr sz="1350" b="0" i="0" u="none">
                <a:solidFill>
                  <a:srgbClr val="9CA3AF"/>
                </a:solidFill>
                <a:latin typeface="Inter"/>
              </a:rPr>
              <a:t> Sistem mengevaluasi kredensial pengguna di awal untuk memisahkan akses ke Dashboard Admin atau alur Pelanggan.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159001"/>
            <a:ext cx="3992760" cy="821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F9FAFB"/>
                </a:solidFill>
                <a:latin typeface="Inter SemiBold"/>
              </a:rPr>
              <a:t>Validasi</a:t>
            </a:r>
            <a:r>
              <a:rPr sz="1350" b="0" i="0" u="none" dirty="0">
                <a:solidFill>
                  <a:srgbClr val="F9FAFB"/>
                </a:solidFill>
                <a:latin typeface="Inter SemiBold"/>
              </a:rPr>
              <a:t> Ganda: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API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memverifikasi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ulang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ketersediaan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meja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(backend validation)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tepat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sebelum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meneruskan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pengguna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ke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Payment Gateway.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5446662"/>
            <a:ext cx="399276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F9FAFB"/>
                </a:solidFill>
                <a:latin typeface="Inter SemiBold"/>
              </a:rPr>
              <a:t>Webhook </a:t>
            </a:r>
            <a:r>
              <a:rPr sz="1350" b="0" i="0" u="none" dirty="0" err="1">
                <a:solidFill>
                  <a:srgbClr val="F9FAFB"/>
                </a:solidFill>
                <a:latin typeface="Inter SemiBold"/>
              </a:rPr>
              <a:t>Asinkron</a:t>
            </a:r>
            <a:r>
              <a:rPr sz="1350" b="0" i="0" u="none" dirty="0">
                <a:solidFill>
                  <a:srgbClr val="F9FAFB"/>
                </a:solidFill>
                <a:latin typeface="Inter SemiBold"/>
              </a:rPr>
              <a:t>: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Bukti booking (E-Ticket) HANYA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diterbitkan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jika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sistem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menerima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callback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sukses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dari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penyedia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pembayaran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183731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4197101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5484762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0355" y="581025"/>
            <a:ext cx="10752125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9FAFB"/>
                </a:solidFill>
                <a:latin typeface="Plus Jakarta Sans"/>
              </a:rPr>
              <a:t>Desain Database (Skema ERD)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661987"/>
            <a:ext cx="25643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40" y="1406203"/>
            <a:ext cx="5912941" cy="51362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1865" y="2292101"/>
            <a:ext cx="447243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9FAFB"/>
                </a:solidFill>
                <a:latin typeface="Plus Jakarta Sans SemiBold"/>
              </a:rPr>
              <a:t>Normalisasi &amp; Isolasi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8565" y="2787401"/>
            <a:ext cx="399276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9FAFB"/>
                </a:solidFill>
                <a:latin typeface="Inter SemiBold"/>
              </a:rPr>
              <a:t>Pusat Transaksional:</a:t>
            </a:r>
            <a:r>
              <a:rPr sz="1350" b="0" i="0" u="none">
                <a:solidFill>
                  <a:srgbClr val="9CA3AF"/>
                </a:solidFill>
                <a:latin typeface="Inter"/>
              </a:rPr>
              <a:t> Tabel bookings bertindak sebagai entitas sentral yang menghubungkan users dan tables.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8565" y="3800772"/>
            <a:ext cx="399276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9FAFB"/>
                </a:solidFill>
                <a:latin typeface="Inter SemiBold"/>
              </a:rPr>
              <a:t>Manajemen Waktu:</a:t>
            </a:r>
            <a:r>
              <a:rPr sz="1350" b="0" i="0" u="none">
                <a:solidFill>
                  <a:srgbClr val="9CA3AF"/>
                </a:solidFill>
                <a:latin typeface="Inter"/>
              </a:rPr>
              <a:t> Tabel schedules dipisahkan agar jam operasional dan ketersediaan bisa dikonfigurasi dinamis per meja.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8565" y="4814143"/>
            <a:ext cx="3992760" cy="821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F9FAFB"/>
                </a:solidFill>
                <a:latin typeface="Inter SemiBold"/>
              </a:rPr>
              <a:t>Audit </a:t>
            </a:r>
            <a:r>
              <a:rPr sz="1350" b="0" i="0" u="none" dirty="0" err="1">
                <a:solidFill>
                  <a:srgbClr val="F9FAFB"/>
                </a:solidFill>
                <a:latin typeface="Inter SemiBold"/>
              </a:rPr>
              <a:t>Keuangan</a:t>
            </a:r>
            <a:r>
              <a:rPr sz="1350" b="0" i="0" u="none" dirty="0">
                <a:solidFill>
                  <a:srgbClr val="F9FAFB"/>
                </a:solidFill>
                <a:latin typeface="Inter SemiBold"/>
              </a:rPr>
              <a:t>: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Tabel transactions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diisolasi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untuk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melacak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detail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pembayaran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(method, status,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url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)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tanpa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mengotori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data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reservasi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inti.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865" y="2825501"/>
            <a:ext cx="1905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1865" y="3838872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1865" y="4852243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390650"/>
            <a:ext cx="3346400" cy="4886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725" y="1390650"/>
            <a:ext cx="3346400" cy="4886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925" y="1390650"/>
            <a:ext cx="3346549" cy="4886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0355" y="581025"/>
            <a:ext cx="10752125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9FAFB"/>
                </a:solidFill>
                <a:latin typeface="Plus Jakarta Sans"/>
              </a:rPr>
              <a:t>Desain API &amp; Praktik Terbaik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61987"/>
            <a:ext cx="25643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" y="1704975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50" y="2390775"/>
            <a:ext cx="285363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9FAFB"/>
                </a:solidFill>
                <a:latin typeface="Plus Jakarta Sans SemiBold"/>
              </a:rPr>
              <a:t>Struktur RESTful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2771775"/>
            <a:ext cx="2717750" cy="1385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Menerapkan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konvensi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penamaan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Resource-based Routing (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contoh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: GET /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api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/tables).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Standarisasi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ini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sangat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memudahkan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kolaborasi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dan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integrasi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pada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sisi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Front-End.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7050" y="1704975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37050" y="2390775"/>
            <a:ext cx="285363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9FAFB"/>
                </a:solidFill>
                <a:latin typeface="Plus Jakarta Sans SemiBold"/>
              </a:rPr>
              <a:t>Kode Status HTTP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7050" y="2771775"/>
            <a:ext cx="2717750" cy="1385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Pemetaan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respons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sangat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presisi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(200 OK, 201 Created, 401 Unauthorized, 422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Unprocessable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Entity).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Memastikan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penanganan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error di UI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dilakukan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secara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akurat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250" y="1704975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88250" y="2390775"/>
            <a:ext cx="285379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9FAFB"/>
                </a:solidFill>
                <a:latin typeface="Plus Jakarta Sans SemiBold"/>
              </a:rPr>
              <a:t>Validasi &amp; Sekuritas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8250" y="2771775"/>
            <a:ext cx="2717899" cy="1103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Memanfaatkan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fitur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Form Request Validation Laravel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untuk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memblokir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payload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kotor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.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Seluruh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endpoint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privat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dilindungi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oleh </a:t>
            </a:r>
            <a:r>
              <a:rPr sz="1350" b="0" i="0" u="none" dirty="0" err="1">
                <a:solidFill>
                  <a:srgbClr val="9CA3AF"/>
                </a:solidFill>
                <a:latin typeface="Inter"/>
              </a:rPr>
              <a:t>autentikasi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 token </a:t>
            </a:r>
            <a:r>
              <a:rPr sz="1350" b="0" i="0" u="none" dirty="0">
                <a:solidFill>
                  <a:srgbClr val="F9FAFB"/>
                </a:solidFill>
                <a:latin typeface="Inter SemiBold"/>
              </a:rPr>
              <a:t>JWT</a:t>
            </a:r>
            <a:r>
              <a:rPr sz="1350" b="0" i="0" u="none" dirty="0">
                <a:solidFill>
                  <a:srgbClr val="9CA3AF"/>
                </a:solidFill>
                <a:latin typeface="Inter"/>
              </a:rPr>
              <a:t>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5387" y="1838325"/>
            <a:ext cx="238125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9925" y="1838325"/>
            <a:ext cx="17145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1600" y="1838325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390650"/>
            <a:ext cx="5210175" cy="23288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390650"/>
            <a:ext cx="5210175" cy="23288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948112"/>
            <a:ext cx="5210175" cy="23288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3948112"/>
            <a:ext cx="5210175" cy="23288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0355" y="581025"/>
            <a:ext cx="10752125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9FAFB"/>
                </a:solidFill>
                <a:latin typeface="Plus Jakarta Sans"/>
              </a:rPr>
              <a:t>Tantangan Teknis &amp; Solusi Utama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661987"/>
            <a:ext cx="25643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9650" y="1628775"/>
            <a:ext cx="4970621" cy="219075"/>
          </a:xfrm>
          <a:prstGeom prst="rect">
            <a:avLst/>
          </a:prstGeom>
          <a:noFill/>
        </p:spPr>
        <p:txBody>
          <a:bodyPr wrap="square" lIns="242589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9FAFB"/>
                </a:solidFill>
                <a:latin typeface="Plus Jakarta Sans"/>
              </a:rPr>
              <a:t>Isu Race 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1962150"/>
            <a:ext cx="4733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F9FAFB"/>
                </a:solidFill>
                <a:latin typeface="Inter SemiBold"/>
              </a:rPr>
              <a:t>Kendala:</a:t>
            </a:r>
            <a:r>
              <a:rPr sz="1125" b="0" i="0" u="none">
                <a:solidFill>
                  <a:srgbClr val="6B7280"/>
                </a:solidFill>
                <a:latin typeface="Inter"/>
              </a:rPr>
              <a:t> Dua klien mengklik reservasi pada slot meja yang sama persis dalam hitungan milidetik.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2495550"/>
            <a:ext cx="47339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F9FAFB"/>
                </a:solidFill>
                <a:latin typeface="Inter SemiBold"/>
              </a:rPr>
              <a:t>Solusi:</a:t>
            </a:r>
            <a:r>
              <a:rPr sz="1125" b="0" i="0" u="none">
                <a:solidFill>
                  <a:srgbClr val="9CA3AF"/>
                </a:solidFill>
                <a:latin typeface="Inter"/>
              </a:rPr>
              <a:t> </a:t>
            </a:r>
            <a:r>
              <a:rPr sz="1125" b="0" i="1" u="none">
                <a:solidFill>
                  <a:srgbClr val="9CA3AF"/>
                </a:solidFill>
                <a:latin typeface="Inter"/>
              </a:rPr>
              <a:t>Database Transaction &amp; Row Locking</a:t>
            </a:r>
            <a:r>
              <a:rPr sz="1125" b="0" i="0" u="none">
                <a:solidFill>
                  <a:srgbClr val="9CA3AF"/>
                </a:solidFill>
                <a:latin typeface="Inter"/>
              </a:rPr>
              <a:t>. Baris data dikunci sementara di MySQL selama proses pengecekan hingga validasi selesai.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1628775"/>
            <a:ext cx="4970621" cy="219075"/>
          </a:xfrm>
          <a:prstGeom prst="rect">
            <a:avLst/>
          </a:prstGeom>
          <a:noFill/>
        </p:spPr>
        <p:txBody>
          <a:bodyPr wrap="square" lIns="223539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9FAFB"/>
                </a:solidFill>
                <a:latin typeface="Plus Jakarta Sans"/>
              </a:rPr>
              <a:t>Manajemen State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1962150"/>
            <a:ext cx="4733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F9FAFB"/>
                </a:solidFill>
                <a:latin typeface="Inter SemiBold"/>
              </a:rPr>
              <a:t>Kendala:</a:t>
            </a:r>
            <a:r>
              <a:rPr sz="1125" b="0" i="0" u="none">
                <a:solidFill>
                  <a:srgbClr val="6B7280"/>
                </a:solidFill>
                <a:latin typeface="Inter"/>
              </a:rPr>
              <a:t> Data kompleks seringkali hilang saat pengguna melakukan navigasi antar halaman.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2495550"/>
            <a:ext cx="4733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F9FAFB"/>
                </a:solidFill>
                <a:latin typeface="Inter SemiBold"/>
              </a:rPr>
              <a:t>Solusi: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Integrasi </a:t>
            </a:r>
            <a:r>
              <a:rPr sz="1125" b="0" i="1" u="none" dirty="0" err="1">
                <a:solidFill>
                  <a:srgbClr val="9CA3AF"/>
                </a:solidFill>
                <a:latin typeface="Inter"/>
              </a:rPr>
              <a:t>Zustand</a:t>
            </a:r>
            <a:r>
              <a:rPr sz="1125" b="0" i="1" u="none" dirty="0">
                <a:solidFill>
                  <a:srgbClr val="9CA3AF"/>
                </a:solidFill>
                <a:latin typeface="Inter"/>
              </a:rPr>
              <a:t> / Redux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sebagai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125" b="0" i="1" u="none" dirty="0">
                <a:solidFill>
                  <a:srgbClr val="9CA3AF"/>
                </a:solidFill>
                <a:latin typeface="Inter"/>
              </a:rPr>
              <a:t>Single Source of Truth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di React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untuk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mempertahankan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status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pemesanan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secara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global.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50" y="4186237"/>
            <a:ext cx="4970621" cy="219075"/>
          </a:xfrm>
          <a:prstGeom prst="rect">
            <a:avLst/>
          </a:prstGeom>
          <a:noFill/>
        </p:spPr>
        <p:txBody>
          <a:bodyPr wrap="square" lIns="242589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9FAFB"/>
                </a:solidFill>
                <a:latin typeface="Plus Jakarta Sans"/>
              </a:rPr>
              <a:t>Keamanan Autentikasi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4519612"/>
            <a:ext cx="4733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F9FAFB"/>
                </a:solidFill>
                <a:latin typeface="Inter SemiBold"/>
              </a:rPr>
              <a:t>Kendala:</a:t>
            </a:r>
            <a:r>
              <a:rPr sz="1125" b="0" i="0" u="none">
                <a:solidFill>
                  <a:srgbClr val="6B7280"/>
                </a:solidFill>
                <a:latin typeface="Inter"/>
              </a:rPr>
              <a:t> Menyimpan token sembarangan berisiko memicu peretasan (Cross-Site Scripting).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650" y="5053012"/>
            <a:ext cx="4733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F9FAFB"/>
                </a:solidFill>
                <a:latin typeface="Inter SemiBold"/>
              </a:rPr>
              <a:t>Solusi: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Pemisahan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token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menggunakan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standar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arsitektur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125" b="0" i="1" u="none" dirty="0">
                <a:solidFill>
                  <a:srgbClr val="9CA3AF"/>
                </a:solidFill>
                <a:latin typeface="Inter"/>
              </a:rPr>
              <a:t>Bearer Auth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dan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melindungi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password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lewat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algoritma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125" b="0" i="1" u="none" dirty="0" err="1">
                <a:solidFill>
                  <a:srgbClr val="9CA3AF"/>
                </a:solidFill>
                <a:latin typeface="Inter"/>
              </a:rPr>
              <a:t>Bcrypt</a:t>
            </a:r>
            <a:r>
              <a:rPr sz="1125" b="0" i="1" u="none" dirty="0">
                <a:solidFill>
                  <a:srgbClr val="9CA3AF"/>
                </a:solidFill>
                <a:latin typeface="Inter"/>
              </a:rPr>
              <a:t> Hashing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4186237"/>
            <a:ext cx="4970621" cy="219075"/>
          </a:xfrm>
          <a:prstGeom prst="rect">
            <a:avLst/>
          </a:prstGeom>
          <a:noFill/>
        </p:spPr>
        <p:txBody>
          <a:bodyPr wrap="square" lIns="242589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9FAFB"/>
                </a:solidFill>
                <a:latin typeface="Plus Jakarta Sans"/>
              </a:rPr>
              <a:t>Performa Render (UI)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4519612"/>
            <a:ext cx="4733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F9FAFB"/>
                </a:solidFill>
                <a:latin typeface="Inter SemiBold"/>
              </a:rPr>
              <a:t>Kendala:</a:t>
            </a:r>
            <a:r>
              <a:rPr sz="1125" b="0" i="0" u="none">
                <a:solidFill>
                  <a:srgbClr val="6B7280"/>
                </a:solidFill>
                <a:latin typeface="Inter"/>
              </a:rPr>
              <a:t> Halaman melambat jika seluruh layout dimuat ulang setiap ada perubahan kecil.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5053012"/>
            <a:ext cx="4733925" cy="442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F9FAFB"/>
                </a:solidFill>
                <a:latin typeface="Inter SemiBold"/>
              </a:rPr>
              <a:t>Solusi: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Memecah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komponen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UI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menjadi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bagian-bagian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kecil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modular agar React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hanya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melakukan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re-render</a:t>
            </a:r>
            <a:r>
              <a:rPr lang="en-US" sz="1125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pada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elemen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yang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berubah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CA3AF"/>
                </a:solidFill>
                <a:latin typeface="Inter"/>
              </a:rPr>
              <a:t>saja</a:t>
            </a:r>
            <a:r>
              <a:rPr sz="1125" b="0" i="0" u="none" dirty="0">
                <a:solidFill>
                  <a:srgbClr val="9CA3AF"/>
                </a:solidFill>
                <a:latin typeface="Inter"/>
              </a:rPr>
              <a:t>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50" y="1666875"/>
            <a:ext cx="166389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1666875"/>
            <a:ext cx="147339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50" y="4224337"/>
            <a:ext cx="166389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4224337"/>
            <a:ext cx="166389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14699" y="3009900"/>
            <a:ext cx="4562601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sz="6000" b="0" i="0" u="none" dirty="0" err="1">
                <a:solidFill>
                  <a:srgbClr val="F9FAFB"/>
                </a:solidFill>
                <a:latin typeface="Haettenschweiler" panose="020B0706040902060204" pitchFamily="34" charset="0"/>
              </a:rPr>
              <a:t>Terima</a:t>
            </a:r>
            <a:r>
              <a:rPr sz="6000" b="0" i="0" u="none" dirty="0">
                <a:solidFill>
                  <a:srgbClr val="F9FAFB"/>
                </a:solidFill>
                <a:latin typeface="Haettenschweiler" panose="020B0706040902060204" pitchFamily="34" charset="0"/>
              </a:rPr>
              <a:t>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826</Words>
  <Application>Microsoft Office PowerPoint</Application>
  <PresentationFormat>Layar Lebar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8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13</vt:i4>
      </vt:variant>
    </vt:vector>
  </HeadingPairs>
  <TitlesOfParts>
    <vt:vector size="22" baseType="lpstr">
      <vt:lpstr>Inter</vt:lpstr>
      <vt:lpstr>Inter SemiBold</vt:lpstr>
      <vt:lpstr>Plus Jakarta Sans</vt:lpstr>
      <vt:lpstr>Plus Jakarta Sans ExtraBold</vt:lpstr>
      <vt:lpstr>Plus Jakarta Sans SemiBold</vt:lpstr>
      <vt:lpstr>Arial</vt:lpstr>
      <vt:lpstr>Calibri</vt:lpstr>
      <vt:lpstr>Haettenschweiler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Wisnu Nugraha</cp:lastModifiedBy>
  <cp:revision>2</cp:revision>
  <dcterms:created xsi:type="dcterms:W3CDTF">2013-01-27T09:14:16Z</dcterms:created>
  <dcterms:modified xsi:type="dcterms:W3CDTF">2026-08-15T17:37:37Z</dcterms:modified>
  <cp:category/>
</cp:coreProperties>
</file>